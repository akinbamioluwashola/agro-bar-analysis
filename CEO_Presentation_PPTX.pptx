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Customer &amp; Sales Rep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Agro Bar Magen Nigeria LTD</a:t>
            </a:r>
            <a:br/>
            <a:br/>
            <a:r>
              <a:rPr/>
              <a:t>Akinbami Oluwashola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 — Key numbers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 customers on 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2,273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Active sales representatives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Geographic locations covered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20+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Top 3 reps by customer count:</a:t>
            </a:r>
          </a:p>
          <a:p>
            <a:pPr lvl="0" indent="-342900" marL="342900">
              <a:buAutoNum type="arabicPeriod"/>
            </a:pPr>
            <a:r>
              <a:rPr/>
              <a:t>Customer Office — 341 customers (administrative allocation)</a:t>
            </a:r>
          </a:p>
          <a:p>
            <a:pPr lvl="0" indent="-342900" marL="342900">
              <a:buAutoNum type="arabicPeriod"/>
            </a:pPr>
            <a:r>
              <a:rPr b="1"/>
              <a:t>Ian</a:t>
            </a:r>
            <a:r>
              <a:rPr/>
              <a:t> — 232 customers across 31 locations (widest geographic spread)</a:t>
            </a:r>
          </a:p>
          <a:p>
            <a:pPr lvl="0" indent="-342900" marL="342900">
              <a:buAutoNum type="arabicPeriod"/>
            </a:pPr>
            <a:r>
              <a:rPr b="1"/>
              <a:t>Peter</a:t>
            </a:r>
            <a:r>
              <a:rPr/>
              <a:t> — 209 customers across 22 locations (heavily concentrated)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Geographic concentration:</a:t>
            </a:r>
            <a:r>
              <a:rPr/>
              <a:t> Over 31% of all customers are in Ibadan/Oyo alone.</a:t>
            </a:r>
          </a:p>
          <a:p>
            <a:pPr lvl="0"/>
            <a:r>
              <a:rPr b="1"/>
              <a:t>Ian</a:t>
            </a:r>
            <a:r>
              <a:rPr/>
              <a:t> has the widest territorial spread but moderate concentration — his top 3 locations hold ~54% of his portfolio.</a:t>
            </a:r>
          </a:p>
          <a:p>
            <a:pPr lvl="0"/>
            <a:r>
              <a:rPr b="1"/>
              <a:t>Peter</a:t>
            </a:r>
            <a:r>
              <a:rPr/>
              <a:t> is heavily concentrated — Ibadan/Oyo alone holds </a:t>
            </a:r>
            <a:r>
              <a:rPr b="1"/>
              <a:t>55%</a:t>
            </a:r>
            <a:r>
              <a:rPr/>
              <a:t> of his customers.</a:t>
            </a:r>
          </a:p>
          <a:p>
            <a:pPr lvl="0"/>
            <a:r>
              <a:rPr/>
              <a:t>Ian and Peter share </a:t>
            </a:r>
            <a:r>
              <a:rPr b="1"/>
              <a:t>7 locations</a:t>
            </a:r>
            <a:r>
              <a:rPr/>
              <a:t>, but actual competitive overlap is minimal — in each shared location, one rep dominates.</a:t>
            </a:r>
          </a:p>
          <a:p>
            <a:pPr lvl="0"/>
            <a:r>
              <a:rPr b="1"/>
              <a:t>Data quality:</a:t>
            </a:r>
            <a:r>
              <a:rPr/>
              <a:t> 9.5% of customer records lack a street address; 4.9% are missing phone numbers.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Company customer database export (Excel)</a:t>
            </a:r>
          </a:p>
          <a:p>
            <a:pPr lvl="0" indent="0" marL="0">
              <a:buNone/>
            </a:pPr>
            <a:r>
              <a:rPr b="1"/>
              <a:t>Scope:</a:t>
            </a:r>
            <a:r>
              <a:rPr/>
              <a:t> All customers mapped to their assigned sales representatives.</a:t>
            </a:r>
          </a:p>
          <a:p>
            <a:pPr lvl="0" indent="0" marL="0">
              <a:buNone/>
            </a:pPr>
            <a:r>
              <a:rPr b="1"/>
              <a:t>Raw data:</a:t>
            </a:r>
            <a:r>
              <a:rPr/>
              <a:t> 2,604 rows x 11 columns (all character type)</a:t>
            </a:r>
          </a:p>
          <a:p>
            <a:pPr lvl="0" indent="0" marL="0">
              <a:buNone/>
            </a:pPr>
            <a:r>
              <a:rPr b="1"/>
              <a:t>After cleaning:</a:t>
            </a:r>
            <a:r>
              <a:rPr/>
              <a:t> 2,273 rows x 7 columns</a:t>
            </a:r>
          </a:p>
          <a:p>
            <a:pPr lvl="0" indent="0" marL="0">
              <a:buNone/>
            </a:pPr>
            <a:r>
              <a:rPr b="1"/>
              <a:t>Cleaning steps applied:</a:t>
            </a:r>
          </a:p>
          <a:p>
            <a:pPr lvl="0"/>
            <a:r>
              <a:rPr/>
              <a:t>Removed header/metadata rows (company name, timestamp, report title)</a:t>
            </a:r>
          </a:p>
          <a:p>
            <a:pPr lvl="0"/>
            <a:r>
              <a:rPr/>
              <a:t>Dropped near-empty columns (Address Line 2, State, Fax Number — ~100% missing)</a:t>
            </a:r>
          </a:p>
          <a:p>
            <a:pPr lvl="0"/>
            <a:r>
              <a:rPr/>
              <a:t>Standardised sales rep names to consistent casing</a:t>
            </a:r>
          </a:p>
          <a:p>
            <a:pPr lvl="0"/>
            <a:r>
              <a:rPr/>
              <a:t>Grouped cities/counties into cleaner location labels</a:t>
            </a:r>
          </a:p>
          <a:p>
            <a:pPr lvl="0"/>
            <a:r>
              <a:rPr/>
              <a:t>Converted Customer Number and Sales Rep Number to numeric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quality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Missing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Missing %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Street Address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Phone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City/County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Sales Rep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Customer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Customer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Prioritise filling in missing street addresses and phone numbers to improve customer reachability and delivery accuracy.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20 customer locations</a:t>
            </a:r>
          </a:p>
        </p:txBody>
      </p:sp>
      <p:pic>
        <p:nvPicPr>
          <p:cNvPr descr="CEO_Presentation_PPTX_files/figure-pptx/fig-location-dis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Customer count by location (Top 20)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Location analysis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Ibadan/Oyo dominates</a:t>
            </a:r>
            <a:r>
              <a:rPr/>
              <a:t> with 711 customers (31% of all customers) — both an opportunity and a concentration risk.</a:t>
            </a:r>
          </a:p>
          <a:p>
            <a:pPr lvl="0"/>
            <a:r>
              <a:rPr b="1"/>
              <a:t>Top 5 locations</a:t>
            </a:r>
            <a:r>
              <a:rPr/>
              <a:t> (Ibadan/Oyo, Ogun, Lagos, Kaduna, Ilorin/Kwara) account for roughly </a:t>
            </a:r>
            <a:r>
              <a:rPr b="1"/>
              <a:t>62%</a:t>
            </a:r>
            <a:r>
              <a:rPr/>
              <a:t> of all customers.</a:t>
            </a:r>
          </a:p>
          <a:p>
            <a:pPr lvl="0"/>
            <a:r>
              <a:rPr/>
              <a:t>Southern Nigeria is heavily represented; northern presence is limited mainly to Kaduna and Kano.</a:t>
            </a:r>
          </a:p>
          <a:p>
            <a:pPr lvl="0" indent="0" marL="0">
              <a:buNone/>
            </a:pPr>
            <a:r>
              <a:rPr b="1"/>
              <a:t>Implications for leadership:</a:t>
            </a:r>
          </a:p>
          <a:p>
            <a:pPr lvl="0"/>
            <a:r>
              <a:rPr/>
              <a:t>Revenue is geographically concentrated — disruptions in Ibadan/Oyo would disproportionately affect the business.</a:t>
            </a:r>
          </a:p>
          <a:p>
            <a:pPr lvl="0"/>
            <a:r>
              <a:rPr/>
              <a:t>There may be untapped growth opportunities in under-represented regions (e.g., Abuja/FCT, northern states).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Sales reps ranked by customer count (Top 15)</a:t>
            </a:r>
          </a:p>
        </p:txBody>
      </p:sp>
      <p:pic>
        <p:nvPicPr>
          <p:cNvPr descr="CEO_Presentation_PPTX_files/figure-pptx/fig-rep-rankin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2: Top 15 sales reps by customer count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Sales rep performance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Customer Office</a:t>
            </a:r>
            <a:r>
              <a:rPr/>
              <a:t> (341 customers) is an administrative allocation, not a single sales rep.</a:t>
            </a:r>
          </a:p>
          <a:p>
            <a:pPr lvl="0"/>
            <a:r>
              <a:rPr b="1"/>
              <a:t>Ian (232) and Peter (209)</a:t>
            </a:r>
            <a:r>
              <a:rPr/>
              <a:t> are the top two individual performers by customer count.</a:t>
            </a:r>
          </a:p>
          <a:p>
            <a:pPr lvl="0"/>
            <a:r>
              <a:rPr/>
              <a:t>There is a steep drop-off after the top 5 reps: the </a:t>
            </a:r>
            <a:r>
              <a:rPr b="1"/>
              <a:t>top 5 account for a disproportionate share</a:t>
            </a:r>
            <a:r>
              <a:rPr/>
              <a:t> of the customer base.</a:t>
            </a:r>
          </a:p>
          <a:p>
            <a:pPr lvl="0"/>
            <a:r>
              <a:rPr b="1"/>
              <a:t>11 reps have fewer than 30 customers each</a:t>
            </a:r>
            <a:r>
              <a:rPr/>
              <a:t> — these may be newer hires, part-time, or underperforming.</a:t>
            </a:r>
          </a:p>
          <a:p>
            <a:pPr lvl="0" indent="0" marL="0">
              <a:buNone/>
            </a:pPr>
            <a:r>
              <a:rPr b="1"/>
              <a:t>Recommendations:</a:t>
            </a:r>
          </a:p>
          <a:p>
            <a:pPr lvl="0"/>
            <a:r>
              <a:rPr/>
              <a:t>Investigate why Customer Office holds so many accounts — consider redistributing to named reps.</a:t>
            </a:r>
          </a:p>
          <a:p>
            <a:pPr lvl="0"/>
            <a:r>
              <a:rPr/>
              <a:t>Review workload balance: top reps may be stretched too thin while others are underutilised.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Ian’s customer distribution by location</a:t>
            </a:r>
          </a:p>
        </p:txBody>
      </p:sp>
      <p:pic>
        <p:nvPicPr>
          <p:cNvPr descr="CEO_Presentation_PPTX_files/figure-pptx/fig-ian-detai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3: Ian’s 232 customers across 31 locations (Top 15 shown)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Ian — Analysis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Strengths:</a:t>
            </a:r>
          </a:p>
          <a:p>
            <a:pPr lvl="0"/>
            <a:r>
              <a:rPr/>
              <a:t>Widest geographic coverage of any rep — </a:t>
            </a:r>
            <a:r>
              <a:rPr b="1"/>
              <a:t>31 locations</a:t>
            </a:r>
          </a:p>
          <a:p>
            <a:pPr lvl="0"/>
            <a:r>
              <a:rPr/>
              <a:t>No single location exceeds 22% of his portfolio</a:t>
            </a:r>
          </a:p>
          <a:p>
            <a:pPr lvl="0"/>
            <a:r>
              <a:rPr/>
              <a:t>Strong presence across the South-East and South-South (Enugu, Delta, Rivers, Edo)</a:t>
            </a:r>
          </a:p>
          <a:p>
            <a:pPr lvl="0" indent="0" marL="0">
              <a:buNone/>
            </a:pPr>
            <a:r>
              <a:rPr b="1"/>
              <a:t>Risks:</a:t>
            </a:r>
          </a:p>
          <a:p>
            <a:pPr lvl="0"/>
            <a:r>
              <a:rPr/>
              <a:t>His top 3 locations (Enugu, Delta, Rivers/PH) hold ~54% of his customers — moderate concentration</a:t>
            </a:r>
          </a:p>
          <a:p>
            <a:pPr lvl="0"/>
            <a:r>
              <a:rPr/>
              <a:t>Managing 31 locations may strain his ability to service all customers effectively</a:t>
            </a:r>
          </a:p>
          <a:p>
            <a:pPr lvl="0"/>
            <a:r>
              <a:rPr/>
              <a:t>If Ian were to leave, the company would lose coverage in numerous locations simultaneously</a:t>
            </a:r>
          </a:p>
          <a:p>
            <a:pPr lvl="0" indent="0" marL="0">
              <a:buNone/>
            </a:pPr>
            <a:r>
              <a:rPr b="1"/>
              <a:t>Recommendations:</a:t>
            </a:r>
          </a:p>
          <a:p>
            <a:pPr lvl="0"/>
            <a:r>
              <a:rPr/>
              <a:t>Develop a succession plan for Ian’s territory</a:t>
            </a:r>
          </a:p>
          <a:p>
            <a:pPr lvl="0"/>
            <a:r>
              <a:rPr/>
              <a:t>Consider assigning a junior rep to shadow Ian in his top locations</a:t>
            </a:r>
          </a:p>
          <a:p>
            <a:pPr lvl="0"/>
            <a:r>
              <a:rPr/>
              <a:t>Monitor customer satisfaction in Ian’s lower-volume locations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Peter’s customer distribution by location</a:t>
            </a:r>
          </a:p>
        </p:txBody>
      </p:sp>
      <p:pic>
        <p:nvPicPr>
          <p:cNvPr descr="CEO_Presentation_PPTX_files/figure-pptx/fig-peter-detai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4: Peter’s 209 customers across 22 locations (Top 15 shown)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Peter — Analysis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Strengths:</a:t>
            </a:r>
          </a:p>
          <a:p>
            <a:pPr lvl="0"/>
            <a:r>
              <a:rPr/>
              <a:t>Second-highest individual customer count (209)</a:t>
            </a:r>
          </a:p>
          <a:p>
            <a:pPr lvl="0"/>
            <a:r>
              <a:rPr/>
              <a:t>Dominant presence in the company’s largest market — Ibadan/Oyo</a:t>
            </a:r>
          </a:p>
          <a:p>
            <a:pPr lvl="0" indent="0" marL="0">
              <a:buNone/>
            </a:pPr>
            <a:r>
              <a:rPr b="1"/>
              <a:t>Critical risk — Geographic concentration:</a:t>
            </a:r>
          </a:p>
          <a:p>
            <a:pPr lvl="0"/>
            <a:r>
              <a:rPr b="1"/>
              <a:t>55% of Peter’s customers</a:t>
            </a:r>
            <a:r>
              <a:rPr/>
              <a:t> are in Ibadan/Oyo alone</a:t>
            </a:r>
          </a:p>
          <a:p>
            <a:pPr lvl="0"/>
            <a:r>
              <a:rPr/>
              <a:t>His top 2 locations (Ibadan/Oyo + Ogun) account for </a:t>
            </a:r>
            <a:r>
              <a:rPr b="1"/>
              <a:t>72%</a:t>
            </a:r>
            <a:r>
              <a:rPr/>
              <a:t> of his portfolio</a:t>
            </a:r>
          </a:p>
          <a:p>
            <a:pPr lvl="0"/>
            <a:r>
              <a:rPr/>
              <a:t>If Peter loses access to Ibadan/Oyo (e.g., he relocates, becomes ill, or resigns), 115 customers are immediately at risk</a:t>
            </a:r>
          </a:p>
          <a:p>
            <a:pPr lvl="0" indent="0" marL="0">
              <a:buNone/>
            </a:pPr>
            <a:r>
              <a:rPr b="1"/>
              <a:t>Recommendations:</a:t>
            </a:r>
          </a:p>
          <a:p>
            <a:pPr lvl="0"/>
            <a:r>
              <a:rPr b="1"/>
              <a:t>Urgent:</a:t>
            </a:r>
            <a:r>
              <a:rPr/>
              <a:t> Assign a backup rep for Ibadan/Oyo to reduce single-person dependency</a:t>
            </a:r>
          </a:p>
          <a:p>
            <a:pPr lvl="0"/>
            <a:r>
              <a:rPr/>
              <a:t>Gradually redistribute some Ibadan/Oyo accounts to reduce Peter’s concentration</a:t>
            </a:r>
          </a:p>
          <a:p>
            <a:pPr lvl="0"/>
            <a:r>
              <a:rPr/>
              <a:t>Encourage Peter to develop his presence in less-saturated markets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Ian vs Peter — Side-by-side top 10 locations</a:t>
            </a:r>
          </a:p>
        </p:txBody>
      </p:sp>
      <p:pic>
        <p:nvPicPr>
          <p:cNvPr descr="CEO_Presentation_PPTX_files/figure-pptx/fig-ian-peter-compa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5: Top 10 locations for Ian and Peter (side by side)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Ian vs Peter — Comparison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Peter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 customers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Locations covered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Top location share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22% (Enugu)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55% (Ibadan/Oyo)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Top 3 locations share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~81%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contrast:</a:t>
            </a:r>
            <a:r>
              <a:rPr/>
              <a:t> Ian is a </a:t>
            </a:r>
            <a:r>
              <a:rPr i="1"/>
              <a:t>spread</a:t>
            </a:r>
            <a:r>
              <a:rPr/>
              <a:t> rep — wide coverage, moderate concentration. Peter is a </a:t>
            </a:r>
            <a:r>
              <a:rPr i="1"/>
              <a:t>depth</a:t>
            </a:r>
            <a:r>
              <a:rPr/>
              <a:t> rep — deep penetration in fewer markets. Both strategies have merit, but Peter’s concentration poses higher business continuity risk.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Overlap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Ian and Peter share </a:t>
            </a:r>
            <a:r>
              <a:rPr b="1"/>
              <a:t>7 locations</a:t>
            </a:r>
            <a:r>
              <a:rPr/>
              <a:t> out of 46 unique locations combined.</a:t>
            </a:r>
          </a:p>
          <a:p>
            <a:pPr lvl="0"/>
            <a:r>
              <a:rPr/>
              <a:t>55.6% of Ian’s customers and 20.6% of Peter’s customers fall in shared locations.</a:t>
            </a:r>
          </a:p>
          <a:p>
            <a:pPr lvl="0"/>
            <a:r>
              <a:rPr b="1"/>
              <a:t>However, actual competitive overlap is minimal</a:t>
            </a:r>
            <a:r>
              <a:rPr/>
              <a:t> — in each shared location, one rep dominates while the other has only 1–3 customers.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Concentration risk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Affected customers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Peter’s Ibadan/Oyo concentration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Company-wide Ibadan/Oyo dependence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Ian’s broad but thin 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Customer Office unassigned accounts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quality gaps (addresses, phones)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247+ records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Bottom 11 reps with &lt;30 customers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&lt;330 combined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— Immediate (0–3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Assign a backup rep for </a:t>
            </a:r>
            <a:r>
              <a:rPr b="1"/>
              <a:t>Peter’s Ibadan/Oyo territory</a:t>
            </a:r>
            <a:r>
              <a:rPr/>
              <a:t> to mitigate single-person dependency.</a:t>
            </a:r>
          </a:p>
          <a:p>
            <a:pPr lvl="0" indent="-342900" marL="342900">
              <a:buAutoNum type="arabicPeriod"/>
            </a:pPr>
            <a:r>
              <a:rPr/>
              <a:t>Audit the </a:t>
            </a:r>
            <a:r>
              <a:rPr b="1"/>
              <a:t>341 Customer Office accounts</a:t>
            </a:r>
            <a:r>
              <a:rPr/>
              <a:t> — redistribute to named sales reps.</a:t>
            </a:r>
          </a:p>
          <a:p>
            <a:pPr lvl="0" indent="-342900" marL="342900">
              <a:buAutoNum type="arabicPeriod"/>
            </a:pPr>
            <a:r>
              <a:rPr/>
              <a:t>Launch a </a:t>
            </a:r>
            <a:r>
              <a:rPr b="1"/>
              <a:t>data cleanup initiative</a:t>
            </a:r>
            <a:r>
              <a:rPr/>
              <a:t> to fill missing addresses and phone numbers.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— Medium-term (3–6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Develop a </a:t>
            </a:r>
            <a:r>
              <a:rPr b="1"/>
              <a:t>succession plan for Ian</a:t>
            </a:r>
            <a:r>
              <a:rPr/>
              <a:t> — his 31-location coverage is a key-person risk.</a:t>
            </a:r>
          </a:p>
          <a:p>
            <a:pPr lvl="0" indent="-342900" marL="342900">
              <a:buAutoNum startAt="4" type="arabicPeriod"/>
            </a:pPr>
            <a:r>
              <a:rPr b="1"/>
              <a:t>Rebalance workloads</a:t>
            </a:r>
            <a:r>
              <a:rPr/>
              <a:t> — top reps are overloaded while others are underutilised.</a:t>
            </a:r>
          </a:p>
          <a:p>
            <a:pPr lvl="0" indent="-342900" marL="342900">
              <a:buAutoNum startAt="4" type="arabicPeriod"/>
            </a:pPr>
            <a:r>
              <a:rPr/>
              <a:t>Evaluate underperforming reps (fewer than 30 customers) for coaching or reassignment.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— Strategic (6–12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7" type="arabicPeriod"/>
            </a:pPr>
            <a:r>
              <a:rPr/>
              <a:t>Explore </a:t>
            </a:r>
            <a:r>
              <a:rPr b="1"/>
              <a:t>geographic expansion</a:t>
            </a:r>
            <a:r>
              <a:rPr/>
              <a:t> into under-served northern regions.</a:t>
            </a:r>
          </a:p>
          <a:p>
            <a:pPr lvl="0" indent="-342900" marL="342900">
              <a:buAutoNum startAt="7" type="arabicPeriod"/>
            </a:pPr>
            <a:r>
              <a:rPr/>
              <a:t>Implement a </a:t>
            </a:r>
            <a:r>
              <a:rPr b="1"/>
              <a:t>CRM system</a:t>
            </a:r>
            <a:r>
              <a:rPr/>
              <a:t> for better territory management and reporting.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Customer &amp; Sales Rep Analysis</a:t>
            </a:r>
          </a:p>
          <a:p>
            <a:pPr lvl="0" indent="0" marL="0">
              <a:buNone/>
            </a:pPr>
            <a:r>
              <a:rPr/>
              <a:t>Prepared by: </a:t>
            </a:r>
            <a:r>
              <a:rPr b="1"/>
              <a:t>Akinbami Oluwashola</a:t>
            </a:r>
          </a:p>
          <a:p>
            <a:pPr lvl="0" indent="0" marL="0">
              <a:buNone/>
            </a:pPr>
            <a:r>
              <a:rPr/>
              <a:t>For: </a:t>
            </a:r>
            <a:r>
              <a:rPr b="1"/>
              <a:t>Agro Bar Magen Nigeria LTD</a:t>
            </a:r>
          </a:p>
          <a:p>
            <a:pPr lvl="0" indent="0" marL="0">
              <a:buNone/>
            </a:pPr>
            <a:r>
              <a:rPr/>
              <a:t>June 2026</a:t>
            </a:r>
          </a:p>
          <a:p>
            <a:pPr lvl="0" indent="0" marL="0">
              <a:buNone/>
            </a:pPr>
            <a:r>
              <a:rPr i="1"/>
              <a:t>Questions or feedback? Please reach out to the analyst.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&amp; Sales Rep Analysis</dc:title>
  <dc:creator>Akinbami Oluwashola</dc:creator>
  <cp:keywords/>
  <dcterms:created xsi:type="dcterms:W3CDTF">2026-06-05T10:35:49Z</dcterms:created>
  <dcterms:modified xsi:type="dcterms:W3CDTF">2026-06-05T10:35:49Z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2026-06-01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Agro Bar Magen Nigeria LTD</vt:lpwstr>
  </property>
  <property fmtid="{D5CDD505-2E9C-101B-9397-08002B2CF9AE}" pid="13" name="toc-title">
    <vt:lpwstr>Table of contents</vt:lpwstr>
  </property>
</Properties>
</file>