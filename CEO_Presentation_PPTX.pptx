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core-properties" Target="docProps/core.xml"/>
<Relationship Id="rId3" Type="http://schemas.openxmlformats.org/package/2006/relationships/metadata/extended-properties" Target="docProps/app.xml"/>
<Relationship Id="rId4" Type="http://schemas.openxmlformats.org/officeDocument/2006/relationships/custom-properties" Target="docProps/custom.xml"/>
</Relationships>
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8" r:id="rId38"/>
    <p:sldId id="287" r:id="rId37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2" Type="http://schemas.openxmlformats.org/officeDocument/2006/relationships/slide" Target="slides/slide1.xml"/>
<Relationship Id="rId3" Type="http://schemas.openxmlformats.org/officeDocument/2006/relationships/slide" Target="slides/slide2.xml"/>
<Relationship Id="rId4" Type="http://schemas.openxmlformats.org/officeDocument/2006/relationships/slide" Target="slides/slide3.xml"/>
<Relationship Id="rId5" Type="http://schemas.openxmlformats.org/officeDocument/2006/relationships/slide" Target="slides/slide4.xml"/>
<Relationship Id="rId6" Type="http://schemas.openxmlformats.org/officeDocument/2006/relationships/slide" Target="slides/slide5.xml"/>
<Relationship Id="rId7" Type="http://schemas.openxmlformats.org/officeDocument/2006/relationships/slide" Target="slides/slide6.xml"/>
<Relationship Id="rId8" Type="http://schemas.openxmlformats.org/officeDocument/2006/relationships/slide" Target="slides/slide7.xml"/>
<Relationship Id="rId9" Type="http://schemas.openxmlformats.org/officeDocument/2006/relationships/slide" Target="slides/slide8.xml"/>
<Relationship Id="rId10" Type="http://schemas.openxmlformats.org/officeDocument/2006/relationships/slide" Target="slides/slide9.xml"/>
<Relationship Id="rId11" Type="http://schemas.openxmlformats.org/officeDocument/2006/relationships/slide" Target="slides/slide10.xml"/>
<Relationship Id="rId12" Type="http://schemas.openxmlformats.org/officeDocument/2006/relationships/slide" Target="slides/slide11.xml"/>
<Relationship Id="rId13" Type="http://schemas.openxmlformats.org/officeDocument/2006/relationships/slide" Target="slides/slide12.xml"/>
<Relationship Id="rId14" Type="http://schemas.openxmlformats.org/officeDocument/2006/relationships/slide" Target="slides/slide13.xml"/>
<Relationship Id="rId15" Type="http://schemas.openxmlformats.org/officeDocument/2006/relationships/slide" Target="slides/slide14.xml"/>
<Relationship Id="rId16" Type="http://schemas.openxmlformats.org/officeDocument/2006/relationships/slide" Target="slides/slide15.xml"/>
<Relationship Id="rId17" Type="http://schemas.openxmlformats.org/officeDocument/2006/relationships/slide" Target="slides/slide16.xml"/>
<Relationship Id="rId18" Type="http://schemas.openxmlformats.org/officeDocument/2006/relationships/slide" Target="slides/slide17.xml"/>
<Relationship Id="rId19" Type="http://schemas.openxmlformats.org/officeDocument/2006/relationships/slide" Target="slides/slide18.xml"/>
<Relationship Id="rId20" Type="http://schemas.openxmlformats.org/officeDocument/2006/relationships/slide" Target="slides/slide19.xml"/>
<Relationship Id="rId21" Type="http://schemas.openxmlformats.org/officeDocument/2006/relationships/slide" Target="slides/slide20.xml"/>
<Relationship Id="rId22" Type="http://schemas.openxmlformats.org/officeDocument/2006/relationships/slide" Target="slides/slide21.xml"/>
<Relationship Id="rId23" Type="http://schemas.openxmlformats.org/officeDocument/2006/relationships/slide" Target="slides/slide22.xml"/>
<Relationship Id="rId24" Type="http://schemas.openxmlformats.org/officeDocument/2006/relationships/slide" Target="slides/slide23.xml"/>
<Relationship Id="rId25" Type="http://schemas.openxmlformats.org/officeDocument/2006/relationships/slide" Target="slides/slide24.xml"/>
<Relationship Id="rId27" Type="http://schemas.openxmlformats.org/officeDocument/2006/relationships/viewProps" Target="viewProps.xml"/>
<Relationship Id="rId26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29" Type="http://schemas.openxmlformats.org/officeDocument/2006/relationships/tableStyles" Target="tableStyles.xml"/>
<Relationship Id="rId28" Type="http://schemas.openxmlformats.org/officeDocument/2006/relationships/theme" Target="theme/theme1.xml"/>
<Relationship Id="rId30" Type="http://schemas.openxmlformats.org/officeDocument/2006/relationships/slide" Target="slides/slide25.xml"/>
<Relationship Id="rId31" Type="http://schemas.openxmlformats.org/officeDocument/2006/relationships/slide" Target="slides/slide26.xml"/>
<Relationship Id="rId32" Type="http://schemas.openxmlformats.org/officeDocument/2006/relationships/slide" Target="slides/slide27.xml"/>
<Relationship Id="rId33" Type="http://schemas.openxmlformats.org/officeDocument/2006/relationships/slide" Target="slides/slide28.xml"/>
<Relationship Id="rId34" Type="http://schemas.openxmlformats.org/officeDocument/2006/relationships/slide" Target="slides/slide29.xml"/>
<Relationship Id="rId35" Type="http://schemas.openxmlformats.org/officeDocument/2006/relationships/slide" Target="slides/slide30.xml"/>
<Relationship Id="rId36" Type="http://schemas.openxmlformats.org/officeDocument/2006/relationships/slide" Target="slides/slide31.xml"/>
<Relationship Id="rId37" Type="http://schemas.openxmlformats.org/officeDocument/2006/relationships/slide" Target="slides/slide32.xml"/>
<Relationship Id="rId38" Type="http://schemas.openxmlformats.org/officeDocument/2006/relationships/slide" Target="slides/slide33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image1.png"/>
</Relationships>

</file>

<file path=ppt/slides/_rels/slide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1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image2.png"/>
</Relationships>

</file>

<file path=ppt/slides/_rels/slide1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1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image3.png"/>
</Relationships>

</file>

<file path=ppt/slides/_rels/slide1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1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image4.png"/>
</Relationships>

</file>

<file path=ppt/slides/_rels/slide1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1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image5.png"/>
</Relationships>

</file>

<file path=ppt/slides/_rels/slide1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1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1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3.xml"/>
</Relationships>

</file>

<file path=ppt/slides/_rels/slide2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7cb54875dec9879b3e5698c8b29ee55945b3959d.png"/>
</Relationships>

</file>

<file path=ppt/slides/_rels/slide2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441c6544719338c60d221b8ca18fe0e649be0244.png"/>
</Relationships>

</file>

<file path=ppt/slides/_rels/slide2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4c402e7c8d5e7a1a2009c97eaa66fa606c34b3c3.png"/>
</Relationships>

</file>

<file path=ppt/slides/_rels/slide2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81ca8ff306da258e3d7170426b7b4ec50fd6dcb2.png"/>
</Relationships>

</file>

<file path=ppt/slides/_rels/slide3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14835e90fde6f99e8dc2b53f1be0860993835654.png"/>
</Relationships>

</file>

<file path=ppt/slides/_rels/slide3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/Relationships>

</file>

<file path=ppt/slides/_rels/slide3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Customer &amp; Sales Rep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Agro Bar Magen Nigeria LTD</a:t>
            </a:r>
            <a:br/>
            <a:br/>
            <a:r>
              <a:rPr/>
              <a:t>Akinbami Oluwashola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Key numbers</a:t>
            </a:r>
          </a:p>
        </p:txBody>
      </p:sp>
      <p:graphicFrame>
        <p:nvGraphicFramePr>
          <p:cNvPr id="3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 customers on record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2,273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Active sales representatives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Geographic locations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20+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Top 3 reps by customer count:</a:t>
            </a:r>
          </a:p>
          <a:p>
            <a:pPr lvl="0" indent="-342900" marL="342900">
              <a:buAutoNum type="arabicPeriod"/>
            </a:pPr>
            <a:r>
              <a:rPr/>
              <a:t>Customer Office — 341 customers (administrative allocation)</a:t>
            </a:r>
          </a:p>
          <a:p>
            <a:pPr lvl="0" indent="-342900" marL="342900">
              <a:buAutoNum type="arabicPeriod"/>
            </a:pPr>
            <a:r>
              <a:rPr b="1"/>
              <a:t>Ian</a:t>
            </a:r>
            <a:r>
              <a:rPr/>
              <a:t> — 232 customers across 31 locations (widest geographic spread)</a:t>
            </a:r>
          </a:p>
          <a:p>
            <a:pPr lvl="0" indent="-342900" marL="342900">
              <a:buAutoNum type="arabicPeriod"/>
            </a:pPr>
            <a:r>
              <a:rPr b="1"/>
              <a:t>Peter</a:t>
            </a:r>
            <a:r>
              <a:rPr/>
              <a:t> — 209 customers across 22 locations (heavily concentrated)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Geographic concentration:</a:t>
            </a:r>
            <a:r>
              <a:rPr/>
              <a:t> Over 31% of all customers are in Ibadan/Oyo alone.</a:t>
            </a:r>
          </a:p>
          <a:p>
            <a:pPr lvl="0"/>
            <a:r>
              <a:rPr b="1"/>
              <a:t>Ian</a:t>
            </a:r>
            <a:r>
              <a:rPr/>
              <a:t> has the widest territorial spread but moderate concentration — his top 3 locations hold ~54% of his portfolio.</a:t>
            </a:r>
          </a:p>
          <a:p>
            <a:pPr lvl="0"/>
            <a:r>
              <a:rPr b="1"/>
              <a:t>Peter</a:t>
            </a:r>
            <a:r>
              <a:rPr/>
              <a:t> is heavily concentrated — Ibadan/Oyo alone holds </a:t>
            </a:r>
            <a:r>
              <a:rPr b="1"/>
              <a:t>55%</a:t>
            </a:r>
            <a:r>
              <a:rPr/>
              <a:t> of his customers.</a:t>
            </a:r>
          </a:p>
          <a:p>
            <a:pPr lvl="0"/>
            <a:r>
              <a:rPr/>
              <a:t>Ian and Peter share </a:t>
            </a:r>
            <a:r>
              <a:rPr b="1"/>
              <a:t>7 locations</a:t>
            </a:r>
            <a:r>
              <a:rPr/>
              <a:t>, but actual competitive overlap is minimal — in each shared location, one rep dominates.</a:t>
            </a:r>
          </a:p>
          <a:p>
            <a:pPr lvl="0"/>
            <a:r>
              <a:rPr b="1"/>
              <a:t>Data quality:</a:t>
            </a:r>
            <a:r>
              <a:rPr/>
              <a:t> 9.5% of customer records lack a street address; 4.9% are missing phone numbers.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source &amp;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Source:</a:t>
            </a:r>
            <a:r>
              <a:rPr/>
              <a:t> Company customer database export (Excel)</a:t>
            </a:r>
          </a:p>
          <a:p>
            <a:pPr lvl="0" indent="0" marL="0">
              <a:buNone/>
            </a:pPr>
            <a:r>
              <a:rPr b="1"/>
              <a:t>Scope:</a:t>
            </a:r>
            <a:r>
              <a:rPr/>
              <a:t> All customers mapped to their assigned sales representatives.</a:t>
            </a:r>
          </a:p>
          <a:p>
            <a:pPr lvl="0" indent="0" marL="0">
              <a:buNone/>
            </a:pPr>
            <a:r>
              <a:rPr b="1"/>
              <a:t>Raw data:</a:t>
            </a:r>
            <a:r>
              <a:rPr/>
              <a:t> 2,604 rows x 11 columns (all character type)</a:t>
            </a:r>
          </a:p>
          <a:p>
            <a:pPr lvl="0" indent="0" marL="0">
              <a:buNone/>
            </a:pPr>
            <a:r>
              <a:rPr b="1"/>
              <a:t>After cleaning:</a:t>
            </a:r>
            <a:r>
              <a:rPr/>
              <a:t> 2,273 rows x 7 columns</a:t>
            </a:r>
          </a:p>
          <a:p>
            <a:pPr lvl="0" indent="0" marL="0">
              <a:buNone/>
            </a:pPr>
            <a:r>
              <a:rPr b="1"/>
              <a:t>Cleaning steps applied:</a:t>
            </a:r>
          </a:p>
          <a:p>
            <a:pPr lvl="0"/>
            <a:r>
              <a:rPr/>
              <a:t>Removed header/metadata rows (company name, timestamp, report title)</a:t>
            </a:r>
          </a:p>
          <a:p>
            <a:pPr lvl="0"/>
            <a:r>
              <a:rPr/>
              <a:t>Dropped near-empty columns (Address Line 2, State, Fax Number — ~100% missing)</a:t>
            </a:r>
          </a:p>
          <a:p>
            <a:pPr lvl="0"/>
            <a:r>
              <a:rPr/>
              <a:t>Standardised sales rep names to consistent casing</a:t>
            </a:r>
          </a:p>
          <a:p>
            <a:pPr lvl="0"/>
            <a:r>
              <a:rPr/>
              <a:t>Grouped cities/counties into cleaner location labels</a:t>
            </a:r>
          </a:p>
          <a:p>
            <a:pPr lvl="0"/>
            <a:r>
              <a:rPr/>
              <a:t>Converted Customer Number and Sales Rep Number to numeric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quality summary</a:t>
            </a:r>
          </a:p>
        </p:txBody>
      </p:sp>
      <p:graphicFrame>
        <p:nvGraphicFramePr>
          <p:cNvPr id="3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Missing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Missing %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Street Address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9.5%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Phone 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City/County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Sales Rep 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Customer 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Customer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Recommendation:</a:t>
            </a:r>
            <a:r>
              <a:rPr/>
              <a:t> Prioritise filling in missing street addresses and phone numbers to improve customer reachability and delivery accuracy.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20 customer locations</a:t>
            </a:r>
          </a:p>
        </p:txBody>
      </p:sp>
      <p:pic>
        <p:nvPicPr>
          <p:cNvPr descr="CEO_Presentation_PPTX_files/figure-pptx/fig-location-dist-1.png" id="3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9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Customer count by location (Top 20)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Location analysis —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Ibadan/Oyo dominates</a:t>
            </a:r>
            <a:r>
              <a:rPr/>
              <a:t> with 711 customers (31% of all customers) — both an opportunity and a concentration risk.</a:t>
            </a:r>
          </a:p>
          <a:p>
            <a:pPr lvl="0"/>
            <a:r>
              <a:rPr b="1"/>
              <a:t>Top 5 locations</a:t>
            </a:r>
            <a:r>
              <a:rPr/>
              <a:t> (Ibadan/Oyo, Ogun, Lagos, Kaduna, Ilorin/Kwara) account for roughly </a:t>
            </a:r>
            <a:r>
              <a:rPr b="1"/>
              <a:t>62%</a:t>
            </a:r>
            <a:r>
              <a:rPr/>
              <a:t> of all customers.</a:t>
            </a:r>
          </a:p>
          <a:p>
            <a:pPr lvl="0"/>
            <a:r>
              <a:rPr/>
              <a:t>Southern Nigeria is heavily represented; northern presence is limited mainly to Kaduna and Kano.</a:t>
            </a:r>
          </a:p>
          <a:p>
            <a:pPr lvl="0" indent="0" marL="0">
              <a:buNone/>
            </a:pPr>
            <a:r>
              <a:rPr b="1"/>
              <a:t>Implications for leadership:</a:t>
            </a:r>
          </a:p>
          <a:p>
            <a:pPr lvl="0"/>
            <a:r>
              <a:rPr/>
              <a:t>Revenue is geographically concentrated — disruptions in Ibadan/Oyo would disproportionately affect the business.</a:t>
            </a:r>
          </a:p>
          <a:p>
            <a:pPr lvl="0"/>
            <a:r>
              <a:rPr/>
              <a:t>There may be untapped growth opportunities in under-represented regions (e.g., Abuja/FCT, northern states).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Sales reps ranked by customer count (Top 15)</a:t>
            </a:r>
          </a:p>
        </p:txBody>
      </p:sp>
      <p:pic>
        <p:nvPicPr>
          <p:cNvPr descr="CEO_Presentation_PPTX_files/figure-pptx/fig-rep-ranking-1.png" id="3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9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Top 15 sales reps by customer count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Sales rep performance —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Customer Office</a:t>
            </a:r>
            <a:r>
              <a:rPr/>
              <a:t> (341 customers) is an administrative allocation, not a single sales rep.</a:t>
            </a:r>
          </a:p>
          <a:p>
            <a:pPr lvl="0"/>
            <a:r>
              <a:rPr b="1"/>
              <a:t>Ian (232) and Peter (209)</a:t>
            </a:r>
            <a:r>
              <a:rPr/>
              <a:t> are the top two individual performers by customer count.</a:t>
            </a:r>
          </a:p>
          <a:p>
            <a:pPr lvl="0"/>
            <a:r>
              <a:rPr/>
              <a:t>There is a steep drop-off after the top 5 reps: the </a:t>
            </a:r>
            <a:r>
              <a:rPr b="1"/>
              <a:t>top 5 account for a disproportionate share</a:t>
            </a:r>
            <a:r>
              <a:rPr/>
              <a:t> of the customer base.</a:t>
            </a:r>
          </a:p>
          <a:p>
            <a:pPr lvl="0"/>
            <a:r>
              <a:rPr b="1"/>
              <a:t>11 reps have fewer than 30 customers each</a:t>
            </a:r>
            <a:r>
              <a:rPr/>
              <a:t> — these may be newer hires, part-time, or underperforming.</a:t>
            </a:r>
          </a:p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/>
            <a:r>
              <a:rPr/>
              <a:t>Investigate why Customer Office holds so many accounts — consider redistributing to named reps.</a:t>
            </a:r>
          </a:p>
          <a:p>
            <a:pPr lvl="0"/>
            <a:r>
              <a:rPr/>
              <a:t>Review workload balance: top reps may be stretched too thin while others are underutilised.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Ian’s customer distribution by location</a:t>
            </a:r>
          </a:p>
        </p:txBody>
      </p:sp>
      <p:pic>
        <p:nvPicPr>
          <p:cNvPr descr="CEO_Presentation_PPTX_files/figure-pptx/fig-ian-detail-1.png" id="3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9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Ian’s 232 customers across 31 locations (Top 15 shown)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Ian — Analysis &amp;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Strengths:</a:t>
            </a:r>
          </a:p>
          <a:p>
            <a:pPr lvl="0"/>
            <a:r>
              <a:rPr/>
              <a:t>Widest geographic coverage of any rep — </a:t>
            </a:r>
            <a:r>
              <a:rPr b="1"/>
              <a:t>31 locations</a:t>
            </a:r>
          </a:p>
          <a:p>
            <a:pPr lvl="0"/>
            <a:r>
              <a:rPr/>
              <a:t>No single location exceeds 22% of his portfolio</a:t>
            </a:r>
          </a:p>
          <a:p>
            <a:pPr lvl="0"/>
            <a:r>
              <a:rPr/>
              <a:t>Strong presence across the South-East and South-South (Enugu, Delta, Rivers, Edo)</a:t>
            </a:r>
          </a:p>
          <a:p>
            <a:pPr lvl="0" indent="0" marL="0">
              <a:buNone/>
            </a:pPr>
            <a:r>
              <a:rPr b="1"/>
              <a:t>Risks:</a:t>
            </a:r>
          </a:p>
          <a:p>
            <a:pPr lvl="0"/>
            <a:r>
              <a:rPr/>
              <a:t>His top 3 locations (Enugu, Delta, Rivers/PH) hold ~54% of his customers — moderate concentration</a:t>
            </a:r>
          </a:p>
          <a:p>
            <a:pPr lvl="0"/>
            <a:r>
              <a:rPr/>
              <a:t>Managing 31 locations may strain his ability to service all customers effectively</a:t>
            </a:r>
          </a:p>
          <a:p>
            <a:pPr lvl="0"/>
            <a:r>
              <a:rPr/>
              <a:t>If Ian were to leave, the company would lose coverage in numerous locations simultaneously</a:t>
            </a:r>
          </a:p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/>
            <a:r>
              <a:rPr/>
              <a:t>Develop a succession plan for Ian’s territory</a:t>
            </a:r>
          </a:p>
          <a:p>
            <a:pPr lvl="0"/>
            <a:r>
              <a:rPr/>
              <a:t>Consider assigning a junior rep to shadow Ian in his top locations</a:t>
            </a:r>
          </a:p>
          <a:p>
            <a:pPr lvl="0"/>
            <a:r>
              <a:rPr/>
              <a:t>Monitor customer satisfaction in Ian’s lower-volume locations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Peter’s customer distribution by location</a:t>
            </a:r>
          </a:p>
        </p:txBody>
      </p:sp>
      <p:pic>
        <p:nvPicPr>
          <p:cNvPr descr="CEO_Presentation_PPTX_files/figure-pptx/fig-peter-detail-1.png" id="3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9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Peter’s 209 customers across 22 locations (Top 15 shown)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Peter — Analysis &amp;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Strengths:</a:t>
            </a:r>
          </a:p>
          <a:p>
            <a:pPr lvl="0"/>
            <a:r>
              <a:rPr/>
              <a:t>Second-highest individual customer count (209)</a:t>
            </a:r>
          </a:p>
          <a:p>
            <a:pPr lvl="0"/>
            <a:r>
              <a:rPr/>
              <a:t>Dominant presence in the company’s largest market — Ibadan/Oyo</a:t>
            </a:r>
          </a:p>
          <a:p>
            <a:pPr lvl="0" indent="0" marL="0">
              <a:buNone/>
            </a:pPr>
            <a:r>
              <a:rPr b="1"/>
              <a:t>Critical risk — Geographic concentration:</a:t>
            </a:r>
          </a:p>
          <a:p>
            <a:pPr lvl="0"/>
            <a:r>
              <a:rPr b="1"/>
              <a:t>55% of Peter’s customers</a:t>
            </a:r>
            <a:r>
              <a:rPr/>
              <a:t> are in Ibadan/Oyo alone</a:t>
            </a:r>
          </a:p>
          <a:p>
            <a:pPr lvl="0"/>
            <a:r>
              <a:rPr/>
              <a:t>His top 2 locations (Ibadan/Oyo + Ogun) account for </a:t>
            </a:r>
            <a:r>
              <a:rPr b="1"/>
              <a:t>72%</a:t>
            </a:r>
            <a:r>
              <a:rPr/>
              <a:t> of his portfolio</a:t>
            </a:r>
          </a:p>
          <a:p>
            <a:pPr lvl="0"/>
            <a:r>
              <a:rPr/>
              <a:t>If Peter loses access to Ibadan/Oyo (e.g., he relocates, becomes ill, or resigns), 115 customers are immediately at risk</a:t>
            </a:r>
          </a:p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/>
            <a:r>
              <a:rPr b="1"/>
              <a:t>Urgent:</a:t>
            </a:r>
            <a:r>
              <a:rPr/>
              <a:t> Assign a backup rep for Ibadan/Oyo to reduce single-person dependency</a:t>
            </a:r>
          </a:p>
          <a:p>
            <a:pPr lvl="0"/>
            <a:r>
              <a:rPr/>
              <a:t>Gradually redistribute some Ibadan/Oyo accounts to reduce Peter’s concentration</a:t>
            </a:r>
          </a:p>
          <a:p>
            <a:pPr lvl="0"/>
            <a:r>
              <a:rPr/>
              <a:t>Encourage Peter to develop his presence in less-saturated markets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Ian vs Peter — Side-by-side top 10 locations</a:t>
            </a:r>
          </a:p>
        </p:txBody>
      </p:sp>
      <p:pic>
        <p:nvPicPr>
          <p:cNvPr descr="CEO_Presentation_PPTX_files/figure-pptx/fig-ian-peter-compare-1.png" id="3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9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Top 10 locations for Ian and Peter (side by side)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Ian vs Peter — Comparison summary</a:t>
            </a:r>
          </a:p>
        </p:txBody>
      </p:sp>
      <p:graphicFrame>
        <p:nvGraphicFramePr>
          <p:cNvPr id="3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Peter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 customers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Locations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Top location share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22% (Enugu)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55% (Ibadan/Oyo)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Top 3 locations share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~54%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~81%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contrast:</a:t>
            </a:r>
            <a:r>
              <a:rPr/>
              <a:t> Ian is a </a:t>
            </a:r>
            <a:r>
              <a:rPr i="1"/>
              <a:t>spread</a:t>
            </a:r>
            <a:r>
              <a:rPr/>
              <a:t> rep — wide coverage, moderate concentration. Peter is a </a:t>
            </a:r>
            <a:r>
              <a:rPr i="1"/>
              <a:t>depth</a:t>
            </a:r>
            <a:r>
              <a:rPr/>
              <a:t> rep — deep penetration in fewer markets. Both strategies have merit, but Peter’s concentration poses higher business continuity risk.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Overlap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Ian and Peter share </a:t>
            </a:r>
            <a:r>
              <a:rPr b="1"/>
              <a:t>7 locations</a:t>
            </a:r>
            <a:r>
              <a:rPr/>
              <a:t> out of 46 unique locations combined.</a:t>
            </a:r>
          </a:p>
          <a:p>
            <a:pPr lvl="0"/>
            <a:r>
              <a:rPr/>
              <a:t>55.6% of Ian’s customers and 20.6% of Peter’s customers fall in shared locations.</a:t>
            </a:r>
          </a:p>
          <a:p>
            <a:pPr lvl="0"/>
            <a:r>
              <a:rPr b="1"/>
              <a:t>However, actual competitive overlap is minimal</a:t>
            </a:r>
            <a:r>
              <a:rPr/>
              <a:t> — in each shared location, one rep dominates while the other has only 1–3 customers.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Concentration risk summary</a:t>
            </a:r>
          </a:p>
        </p:txBody>
      </p:sp>
      <p:graphicFrame>
        <p:nvGraphicFramePr>
          <p:cNvPr id="3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Risk 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Severity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Affected customers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Peter’s Ibadan/Oyo concentration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Company-wide Ibadan/Oyo dependence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Ian’s broad but thin coverage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MEDIUM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Customer Office unassigned accounts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MEDIUM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Data quality gaps (addresses, phones)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MEDIUM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247+ records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Bottom 11 reps with &lt;30 customers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&lt;330 combined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Recommendations — Immediate (0–3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Assign a backup rep for </a:t>
            </a:r>
            <a:r>
              <a:rPr b="1"/>
              <a:t>Peter’s Ibadan/Oyo territory</a:t>
            </a:r>
            <a:r>
              <a:rPr/>
              <a:t> to mitigate single-person dependency.</a:t>
            </a:r>
          </a:p>
          <a:p>
            <a:pPr lvl="0" indent="-342900" marL="342900">
              <a:buAutoNum type="arabicPeriod"/>
            </a:pPr>
            <a:r>
              <a:rPr/>
              <a:t>Audit the </a:t>
            </a:r>
            <a:r>
              <a:rPr b="1"/>
              <a:t>341 Customer Office accounts</a:t>
            </a:r>
            <a:r>
              <a:rPr/>
              <a:t> — redistribute to named sales reps.</a:t>
            </a:r>
          </a:p>
          <a:p>
            <a:pPr lvl="0" indent="-342900" marL="342900">
              <a:buAutoNum type="arabicPeriod"/>
            </a:pPr>
            <a:r>
              <a:rPr/>
              <a:t>Launch a </a:t>
            </a:r>
            <a:r>
              <a:rPr b="1"/>
              <a:t>data cleanup initiative</a:t>
            </a:r>
            <a:r>
              <a:rPr/>
              <a:t> to fill missing addresses and phone numbers.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Recommendations — Medium-term (3–6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startAt="4" type="arabicPeriod"/>
            </a:pPr>
            <a:r>
              <a:rPr/>
              <a:t>Develop a </a:t>
            </a:r>
            <a:r>
              <a:rPr b="1"/>
              <a:t>succession plan for Ian</a:t>
            </a:r>
            <a:r>
              <a:rPr/>
              <a:t> — his 31-location coverage is a key-person risk.</a:t>
            </a:r>
          </a:p>
          <a:p>
            <a:pPr lvl="0" indent="-342900" marL="342900">
              <a:buAutoNum startAt="4" type="arabicPeriod"/>
            </a:pPr>
            <a:r>
              <a:rPr b="1"/>
              <a:t>Rebalance workloads</a:t>
            </a:r>
            <a:r>
              <a:rPr/>
              <a:t> — top reps are overloaded while others are underutilised.</a:t>
            </a:r>
          </a:p>
          <a:p>
            <a:pPr lvl="0" indent="-342900" marL="342900">
              <a:buAutoNum startAt="4" type="arabicPeriod"/>
            </a:pPr>
            <a:r>
              <a:rPr/>
              <a:t>Evaluate underperforming reps (fewer than 30 customers) for coaching or reassignment.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Recommendations — Strategic (6–12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startAt="7" type="arabicPeriod"/>
            </a:pPr>
            <a:r>
              <a:rPr/>
              <a:t>Explore </a:t>
            </a:r>
            <a:r>
              <a:rPr b="1"/>
              <a:t>geographic expansion</a:t>
            </a:r>
            <a:r>
              <a:rPr/>
              <a:t> into under-served northern regions.</a:t>
            </a:r>
          </a:p>
          <a:p>
            <a:pPr lvl="0" indent="-342900" marL="342900">
              <a:buAutoNum startAt="7" type="arabicPeriod"/>
            </a:pPr>
            <a:r>
              <a:rPr/>
              <a:t>Implement a </a:t>
            </a:r>
            <a:r>
              <a:rPr b="1"/>
              <a:t>CRM system</a:t>
            </a:r>
            <a:r>
              <a:rPr/>
              <a:t> for better territory management and reporting.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Customer &amp; Sales Rep Analysis</a:t>
            </a:r>
          </a:p>
          <a:p>
            <a:pPr lvl="0" indent="0" marL="0">
              <a:buNone/>
            </a:pPr>
            <a:r>
              <a:rPr/>
              <a:t>Prepared by: </a:t>
            </a:r>
            <a:r>
              <a:rPr b="1"/>
              <a:t>Akinbami Oluwashola</a:t>
            </a:r>
          </a:p>
          <a:p>
            <a:pPr lvl="0" indent="0" marL="0">
              <a:buNone/>
            </a:pPr>
            <a:r>
              <a:rPr/>
              <a:t>For: </a:t>
            </a:r>
            <a:r>
              <a:rPr b="1"/>
              <a:t>Agro Bar Magen Nigeria LTD</a:t>
            </a:r>
          </a:p>
          <a:p>
            <a:pPr lvl="0" indent="0" marL="0">
              <a:buNone/>
            </a:pPr>
            <a:r>
              <a:rPr/>
              <a:t>June 2026</a:t>
            </a:r>
          </a:p>
          <a:p>
            <a:pPr lvl="0" indent="0" marL="0">
              <a:buNone/>
            </a:pPr>
            <a:r>
              <a:rPr i="1"/>
              <a:t>Questions or feedback? Please reach out to the analyst.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r>
              <a:rPr/>
              <a:t>Interactive Dashboard Highlights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r>
              <a:rPr/>
              <a:t>Dashboard Overview — Key Metrics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2C6E49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Total Customers: 1,932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2C6E49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Total Sales Reps: 30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2C6E49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Locations Served: 127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E67E22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Top Rep: Ian (232 customers)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/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1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The top 5 reps handle 48.6% of all customers.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r>
              <a:rPr/>
              <a:t>Top 15 Sales Reps by Customer Count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85800" y="1645920"/>
            <a:ext cx="7772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r>
              <a:rPr/>
              <a:t>Top 15 Locations by Customer Count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85800" y="1645920"/>
            <a:ext cx="7772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r>
              <a:rPr/>
              <a:t>Workload Distribution — All Reps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85800" y="1645920"/>
            <a:ext cx="7772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r>
              <a:rPr/>
              <a:t>Locations at Risk — Single Rep Coverage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85800" y="1645920"/>
            <a:ext cx="7772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r>
              <a:rPr/>
              <a:t>Rep × Location Heatmap (Top 10 × 10)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685800" y="1645920"/>
            <a:ext cx="7772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r>
              <a:rPr/>
              <a:t>CEO Recommendations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r>
              <a:rPr/>
              <a:t>CEO Recommendations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r>
              <a:rPr/>
              <a:t>CEO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394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2C6E49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1. Rebalance territories — </a:t>
            </a:r>
            <a:r>
              <a:rPr cap="none" sz="13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Redistribute customers from overloaded reps to underutilized ones. Target max ~120 per rep.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2C6E49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2. Formalize territory mapping — </a:t>
            </a:r>
            <a:r>
              <a:rPr cap="none" sz="13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Assign each location a primary and backup rep to eliminate overlap and ensure continuity.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2C6E49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3. Audit low-activity reps — </a:t>
            </a:r>
            <a:r>
              <a:rPr cap="none" sz="13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8 reps have 5 or fewer customers. Review for reassignment or retraining.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2C6E49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4. Diversify geographic reach — </a:t>
            </a:r>
            <a:r>
              <a:rPr cap="none" sz="13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Develop growth plans beyond the Ibadan-Ogun-Lagos corridor to reduce concentration risk.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2C6E49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5. Add performance data — </a:t>
            </a:r>
            <a:r>
              <a:rPr cap="none" sz="1300" i="0" b="0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Integrate revenue and visit-frequency data to move from headcount to value-based territory management.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Customer &amp; Sales Rep Analysis</dc:title>
  <dc:creator>Akinbami Oluwashola</dc:creator>
  <cp:keywords/>
  <dcterms:created xsi:type="dcterms:W3CDTF">2026-06-05T10:35:49Z</dcterms:created>
  <dcterms:modified xsi:type="dcterms:W3CDTF">2026-06-06T14:29:52Z</dcterms:modified>
  <cp:lastModifiedB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2026-06-01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Agro Bar Magen Nigeria LTD</vt:lpwstr>
  </property>
  <property fmtid="{D5CDD505-2E9C-101B-9397-08002B2CF9AE}" pid="13" name="toc-title">
    <vt:lpwstr>Table of contents</vt:lpwstr>
  </property>
</Properties>
</file>